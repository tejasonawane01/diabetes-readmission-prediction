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sqAGp8ya/HviVbOT5w3RCIRQE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572B"/>
              </a:solidFill>
              <a:effectLst/>
            </c:spPr>
          </c:dPt>
          <c:dPt>
            <c:idx val="1"/>
            <c:bubble3D val="0"/>
            <c:spPr>
              <a:solidFill>
                <a:srgbClr val="127C8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Readmitted</c:v>
                </c:pt>
                <c:pt idx="1">
                  <c:v>Not Readmitted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39.6</c:v>
                </c:pt>
                <c:pt idx="1">
                  <c:v>60.4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5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1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594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ADBUREAU ANALYTICS PRIVATE LIMITED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9326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Internship Assignment #1  ·  Machine Learning Case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774375" y="594360"/>
            <a:ext cx="777240" cy="777240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5368" y="765353"/>
            <a:ext cx="435254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02920" y="2331720"/>
            <a:ext cx="9692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Diabetes Readmission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4160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8E9"/>
                </a:solidFill>
                <a:latin typeface="Calibri"/>
                <a:ea typeface="Calibri"/>
                <a:cs typeface="Calibri"/>
                <a:sym typeface="Calibri"/>
              </a:rPr>
              <a:t>A predictive analytics and business strategy approach to flagging at-risk diabetes patients before discharge.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502920" y="507492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0B54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502920" y="5257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Prepared by: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Mithil Save</a:t>
            </a: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Tejas Sonawne  ·  Parth Gupta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55595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402775" y="5257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031175" y="5559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Adbureau Analytics — Internship Case Study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1463040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44" y="1587764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280160" y="1380744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Business Problem &amp; Objective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80160" y="1728216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Why readmissions matter, and what we're predicting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17920" y="1463040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2644" y="1587764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995160" y="1380744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995160" y="1728216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Who these patients are, and what stands 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2761488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44" y="288621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280160" y="267919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80160" y="302666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Cleaning, encoding, and feature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17920" y="2761488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2644" y="288621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6995160" y="267919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Modeling &amp; Evaluation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95160" y="302666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Algorithms, tuning, ensembles, and performance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" y="4059936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7644" y="4184660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1280160" y="39776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80160" y="432511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What actually drives readmission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17920" y="4059936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2644" y="4184660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6995160" y="39776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Business Insights &amp; 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995160" y="432511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Top 5 + Top 5, for hospital leadership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02920" y="5358384"/>
            <a:ext cx="566928" cy="566928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7644" y="5483108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1280160" y="527608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Business Impact &amp; 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280160" y="56235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Where this creates value, and what comes next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BUSINESS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The Business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911535" y="384048"/>
            <a:ext cx="713232" cy="713232"/>
          </a:xfrm>
          <a:prstGeom prst="ellipse">
            <a:avLst/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8446" y="540959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502920" y="1554480"/>
            <a:ext cx="6126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Unplanned readmissions among diabetes patients drive up cost, strain bed and staff capacity, and often signal gaps in discharge planning rather than a single bad outcome. Hospitals rarely lack data on a patient at discharge — they lack a reliable way to turn that data into a same-day decision about who needs extra support.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" y="416052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5458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0B5458"/>
                </a:solidFill>
                <a:latin typeface="Calibri"/>
                <a:ea typeface="Calibri"/>
                <a:cs typeface="Calibri"/>
                <a:sym typeface="Calibri"/>
              </a:rPr>
              <a:t>Our goal: build a model that flags high-risk patients before they leave the hospital — early enough for a care team to actually do something about it.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178040" y="1554480"/>
            <a:ext cx="4510735" cy="3611880"/>
          </a:xfrm>
          <a:prstGeom prst="roundRect">
            <a:avLst>
              <a:gd fmla="val 2025" name="adj"/>
            </a:avLst>
          </a:prstGeom>
          <a:solidFill>
            <a:srgbClr val="E7F3F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B3142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498080" y="1810512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4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5458"/>
                </a:solidFill>
                <a:latin typeface="Calibri"/>
                <a:ea typeface="Calibri"/>
                <a:cs typeface="Calibri"/>
                <a:sym typeface="Calibri"/>
              </a:rPr>
              <a:t>OUR OBJECTIVE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498080" y="2121408"/>
            <a:ext cx="38706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Predict: readmitted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98080" y="2697480"/>
            <a:ext cx="3870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2572B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-US" sz="13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 →  Patient is readmitted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498080" y="2999232"/>
            <a:ext cx="3870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45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5458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-US" sz="13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 →  Patient is not readmitted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7498080" y="3456432"/>
            <a:ext cx="3870655" cy="0"/>
          </a:xfrm>
          <a:prstGeom prst="straightConnector1">
            <a:avLst/>
          </a:prstGeom>
          <a:noFill/>
          <a:ln cap="flat" cmpd="sng" w="12700">
            <a:solidFill>
              <a:srgbClr val="C7DE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7498080" y="3611880"/>
            <a:ext cx="3870655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Identify patients at risk of readmission before discharge, so hospitals can intervene early.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2920" y="5486400"/>
            <a:ext cx="3611880" cy="566928"/>
          </a:xfrm>
          <a:prstGeom prst="roundRect">
            <a:avLst>
              <a:gd fmla="val 50000" name="adj"/>
            </a:avLst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235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1097280" y="54864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343400" y="5486400"/>
            <a:ext cx="3611880" cy="566928"/>
          </a:xfrm>
          <a:prstGeom prst="roundRect">
            <a:avLst>
              <a:gd fmla="val 50000" name="adj"/>
            </a:avLst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6280" y="56235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4937760" y="54864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Outcomes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183880" y="5486400"/>
            <a:ext cx="3611880" cy="566928"/>
          </a:xfrm>
          <a:prstGeom prst="roundRect">
            <a:avLst>
              <a:gd fmla="val 50000" name="adj"/>
            </a:avLst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6760" y="56235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8778240" y="54864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 Optimization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1 · EXPLORATORY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Dataset Snapshot — 10,000 Patient Encounters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kpi_strip.png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08" y="1325880"/>
            <a:ext cx="10698480" cy="876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assets/data_preview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423160"/>
            <a:ext cx="6903720" cy="24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502920" y="4939300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Sample of raw patient records — 51 columns, scrollable in the source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772400" y="2404872"/>
            <a:ext cx="39163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4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5458"/>
                </a:solidFill>
                <a:latin typeface="Calibri"/>
                <a:ea typeface="Calibri"/>
                <a:cs typeface="Calibri"/>
                <a:sym typeface="Calibri"/>
              </a:rPr>
              <a:t>TYPICAL PATIENT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772400" y="2770632"/>
            <a:ext cx="1866748" cy="914400"/>
          </a:xfrm>
          <a:prstGeom prst="roundRect">
            <a:avLst>
              <a:gd fmla="val 6000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772400" y="2843784"/>
            <a:ext cx="18667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4.4 days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863840" y="3300984"/>
            <a:ext cx="16838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avg. time in hospital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822028" y="2770632"/>
            <a:ext cx="1866748" cy="914400"/>
          </a:xfrm>
          <a:prstGeom prst="roundRect">
            <a:avLst>
              <a:gd fmla="val 6000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9822028" y="2843784"/>
            <a:ext cx="18667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15.6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913468" y="3300984"/>
            <a:ext cx="16838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avg. medications per stay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772400" y="3822192"/>
            <a:ext cx="1866748" cy="914400"/>
          </a:xfrm>
          <a:prstGeom prst="roundRect">
            <a:avLst>
              <a:gd fmla="val 6000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772400" y="3895344"/>
            <a:ext cx="18667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43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863840" y="4352544"/>
            <a:ext cx="16838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avg. lab procedures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822028" y="3822192"/>
            <a:ext cx="1866748" cy="914400"/>
          </a:xfrm>
          <a:prstGeom prst="roundRect">
            <a:avLst>
              <a:gd fmla="val 6000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822028" y="3895344"/>
            <a:ext cx="18667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7.0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913468" y="4352544"/>
            <a:ext cx="16838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avg. diagnoses coded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1 · EXPLORATORY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Who Are These Patients?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q_age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5440680" cy="2495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assets/q_admtype.png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095" y="1417320"/>
            <a:ext cx="5440680" cy="2612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02920" y="4258833"/>
            <a:ext cx="11185855" cy="23248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Patients aged 60–80 account for the largest share of encounters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readmission-prevention efforts will affect the most people if they prioritize this band.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Emergency admissions dominate by a wide margin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far outnumbering Elective and Urgent combined, meaning many patients arrive unplanned, with little chance for pre-admission risk screening.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Very young (&lt;30) and very old (90+) patients are rare here</a:t>
            </a: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insights for these age bands should be read with caution given the small sample size.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1 · EXPLORATORY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Diagnosis &amp; Medication Patterns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q_diag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5440680" cy="2385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assets/q_meds.png"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095" y="1417320"/>
            <a:ext cx="5440680" cy="227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502920" y="4030962"/>
            <a:ext cx="11185855" cy="2552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Circulatory conditions are the single largest primary-diagnosis category (31.9%)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nearly double Respiratory (13.2%), the next-largest group. Cardiovascular comorbidity is central to this population, not just glycemic control.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Diabetes itself is the primary diagnosis in only 8.5% of encounters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most admissions are driven by complications elsewhere in the body.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Insulin is prescribed far more than any oral agent</a:t>
            </a: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— well ahead of Metformin, consistent with an insulin-dependent or advanced-disease population.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1–2 · EDA &amp; DATA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The Target — and Why Imbalance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7"/>
          <p:cNvGraphicFramePr/>
          <p:nvPr/>
        </p:nvGraphicFramePr>
        <p:xfrm>
          <a:off x="502920" y="1463040"/>
          <a:ext cx="4663440" cy="4663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0" name="Google Shape;150;p7"/>
          <p:cNvSpPr/>
          <p:nvPr/>
        </p:nvSpPr>
        <p:spPr>
          <a:xfrm>
            <a:off x="5943600" y="1600200"/>
            <a:ext cx="5745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57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2572B"/>
                </a:solidFill>
                <a:latin typeface="Calibri"/>
                <a:ea typeface="Calibri"/>
                <a:cs typeface="Calibri"/>
                <a:sym typeface="Calibri"/>
              </a:rPr>
              <a:t>39.6% of patients </a:t>
            </a:r>
            <a:r>
              <a:rPr b="0" i="0" lang="en-US" sz="16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in this dataset were readmitted — roughly 2 in 5 discharges came back.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943600" y="2697480"/>
            <a:ext cx="5745175" cy="1417320"/>
          </a:xfrm>
          <a:prstGeom prst="roundRect">
            <a:avLst>
              <a:gd fmla="val 5161" name="adj"/>
            </a:avLst>
          </a:prstGeom>
          <a:solidFill>
            <a:srgbClr val="FB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217920" y="2834640"/>
            <a:ext cx="519653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2E1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2E14"/>
                </a:solidFill>
                <a:latin typeface="Calibri"/>
                <a:ea typeface="Calibri"/>
                <a:cs typeface="Calibri"/>
                <a:sym typeface="Calibri"/>
              </a:rPr>
              <a:t>This is a meaningfully imbalanced target. A model that always predicts “not readmitted” would already be ~60% accurate — while catching zero true readmissions. Accuracy alone is the wrong yardstick 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943600" y="4343400"/>
            <a:ext cx="574517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We addressed this by applying SMOTE oversampling to the training set only (never the test set), and by deliberately tuning the decision threshold to favor recall over raw accuracy — more on this trade-off in Model Selection.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2 · DATA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Getting the Data Model-Ready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446" y="150784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1051560" y="141732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Missing Value Strategy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02920" y="1965960"/>
            <a:ext cx="52578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alibri"/>
              <a:buChar char="•"/>
            </a:pPr>
            <a:r>
              <a:rPr b="1" i="0" lang="en-US" sz="12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‘?’ and similar placeholders treated as missing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B6B7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— never as a real category.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alibri"/>
              <a:buChar char="•"/>
            </a:pPr>
            <a:r>
              <a:rPr b="1" i="0" lang="en-US" sz="12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Columns missing in over 40% of records dropped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B6B7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— rather than forcing in a barely-populated field.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Remaining gaps mode-imputed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, preserving the full 10,000-record sample.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8446" y="150784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6766560" y="141732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217920" y="1965960"/>
            <a:ext cx="5257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ourier New"/>
                <a:ea typeface="Courier New"/>
                <a:cs typeface="Courier New"/>
                <a:sym typeface="Courier New"/>
              </a:rPr>
              <a:t>age_numeric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— ordinal encoding of age bands.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ourier New"/>
                <a:ea typeface="Courier New"/>
                <a:cs typeface="Courier New"/>
                <a:sym typeface="Courier New"/>
              </a:rPr>
              <a:t>prior_visits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— combined outpatient/ER/inpatient utilization score.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ourier New"/>
                <a:ea typeface="Courier New"/>
                <a:cs typeface="Courier New"/>
                <a:sym typeface="Courier New"/>
              </a:rPr>
              <a:t>medication_changed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— flags any change in diabetes meds during the stay.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ICD-9 codes → clinical categories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(Circulatory, Diabetes, Respiratory, …) instead of ~700 raw codes.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1625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A1C / glucose serum</a:t>
            </a:r>
            <a:r>
              <a:rPr b="0" i="0" lang="en-US" sz="12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ordinally encoded to reflect clinical severity.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02920" y="5532120"/>
            <a:ext cx="11185855" cy="685800"/>
          </a:xfrm>
          <a:prstGeom prst="roundRect">
            <a:avLst>
              <a:gd fmla="val 13333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57241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234440" y="5532120"/>
            <a:ext cx="101800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5458"/>
                </a:solidFill>
                <a:latin typeface="Calibri"/>
                <a:ea typeface="Calibri"/>
                <a:cs typeface="Calibri"/>
                <a:sym typeface="Calibri"/>
              </a:rPr>
              <a:t>3.9% raw missing values</a:t>
            </a: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  →  fully resolved before modeling — no nulls reach the algorithms.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3 · CLASSIFICATION MODELING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Modeling Approach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02920" y="1417320"/>
            <a:ext cx="5257800" cy="1965960"/>
          </a:xfrm>
          <a:prstGeom prst="roundRect">
            <a:avLst>
              <a:gd fmla="val 3721" name="adj"/>
            </a:avLst>
          </a:prstGeom>
          <a:solidFill>
            <a:srgbClr val="FAFCFC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B3142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882" y="17839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463040" y="1645920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7 Algorithms Benchmarked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77240" y="233172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XGBoost, LightGBM, CatBoost, Random Forest, Extra Trees, Gradient Boosting,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217920" y="1417320"/>
            <a:ext cx="5257800" cy="1965960"/>
          </a:xfrm>
          <a:prstGeom prst="roundRect">
            <a:avLst>
              <a:gd fmla="val 3721" name="adj"/>
            </a:avLst>
          </a:prstGeom>
          <a:solidFill>
            <a:srgbClr val="FAFCFC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B3142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492240" y="1673352"/>
            <a:ext cx="502920" cy="502920"/>
          </a:xfrm>
          <a:prstGeom prst="ellipse">
            <a:avLst/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882" y="17839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7178040" y="1645920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3 Ensemble Strategies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92240" y="233172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Voting, Stacking, and Blending (Super Learner) combine the base models' strengths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02920" y="3657600"/>
            <a:ext cx="5257800" cy="1965960"/>
          </a:xfrm>
          <a:prstGeom prst="roundRect">
            <a:avLst>
              <a:gd fmla="val 3721" name="adj"/>
            </a:avLst>
          </a:prstGeom>
          <a:solidFill>
            <a:srgbClr val="FAFCFC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B3142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77240" y="3913632"/>
            <a:ext cx="502920" cy="502920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882" y="402427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1463040" y="3886200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Systematic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77240" y="457200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RandomizedSearchCV over max_depth, learning_rate, n_estimators, subsample, colsample_bytree — 5-fold stratified CV, scored on ROC-AUC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217920" y="3657600"/>
            <a:ext cx="5257800" cy="1965960"/>
          </a:xfrm>
          <a:prstGeom prst="roundRect">
            <a:avLst>
              <a:gd fmla="val 3721" name="adj"/>
            </a:avLst>
          </a:prstGeom>
          <a:solidFill>
            <a:srgbClr val="FAFCFC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38100">
              <a:srgbClr val="0B3142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492240" y="3913632"/>
            <a:ext cx="502920" cy="502920"/>
          </a:xfrm>
          <a:prstGeom prst="ellipse">
            <a:avLst/>
          </a:prstGeom>
          <a:solidFill>
            <a:srgbClr val="0B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2882" y="402427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7178040" y="3886200"/>
            <a:ext cx="4069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Imbalance-Aware Training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492240" y="457200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SMOTE applied to the training set only, plus decision-threshold optimization for F1 / 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02920" y="6007608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80/20 stratified train-test split used throughout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4 · MODEL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Model Performance — Comparing the Field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diabetes_readmission/diabetes_readmission/diabetes_readmission/outputs/metrics_comparison.png"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4943" y="1325880"/>
            <a:ext cx="780181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 and F1 across baseline and F1-optimized variants of each algorithm — generated directly from the evaluation pipeline.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4 · MODEL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Final Model Selection — Stacking Ensemble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assets/model_perf_table.png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94" y="1325880"/>
            <a:ext cx="8076907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502920" y="4297680"/>
            <a:ext cx="2659304" cy="777240"/>
          </a:xfrm>
          <a:prstGeom prst="roundRect">
            <a:avLst>
              <a:gd fmla="val 8235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02920" y="4352544"/>
            <a:ext cx="2659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59.1%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02920" y="4773168"/>
            <a:ext cx="2659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3345104" y="4297680"/>
            <a:ext cx="2659304" cy="777240"/>
          </a:xfrm>
          <a:prstGeom prst="roundRect">
            <a:avLst>
              <a:gd fmla="val 8235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3345104" y="4352544"/>
            <a:ext cx="2659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49.8%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345104" y="4773168"/>
            <a:ext cx="2659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187288" y="4297680"/>
            <a:ext cx="2659304" cy="777240"/>
          </a:xfrm>
          <a:prstGeom prst="roundRect">
            <a:avLst>
              <a:gd fmla="val 8235" name="adj"/>
            </a:avLst>
          </a:prstGeom>
          <a:solidFill>
            <a:srgbClr val="FBE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187288" y="4352544"/>
            <a:ext cx="2659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57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2572B"/>
                </a:solidFill>
                <a:latin typeface="Cambria"/>
                <a:ea typeface="Cambria"/>
                <a:cs typeface="Cambria"/>
                <a:sym typeface="Cambria"/>
              </a:rPr>
              <a:t>82.5%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187288" y="4773168"/>
            <a:ext cx="2659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9029471" y="4297680"/>
            <a:ext cx="2659304" cy="777240"/>
          </a:xfrm>
          <a:prstGeom prst="roundRect">
            <a:avLst>
              <a:gd fmla="val 8235" name="adj"/>
            </a:avLst>
          </a:prstGeom>
          <a:solidFill>
            <a:srgbClr val="E7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9029471" y="4352544"/>
            <a:ext cx="26593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69.1%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9029471" y="4773168"/>
            <a:ext cx="2659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ROC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02920" y="5212080"/>
            <a:ext cx="1118585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Why not the highest-accuracy model? A missed high-risk patient (false negative) costs more than an extra nurse review (false positive). The F1-optimized Stacking Ensemble trades ~5 points of accuracy for +23 points of recall vs. default-threshold XGBoost — catching 82% of true readmissions instead of 59%.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4 · MODEL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Evaluation Deep-Dive — XGBoost (Default Threshold)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diabetes_readmission/diabetes_readmission/diabetes_readmission/plots/confusion_matrix_xgboost.png" id="247" name="Google Shape;2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6758" y="1417320"/>
            <a:ext cx="3863733" cy="3520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work/diabetes_readmission/diabetes_readmission/diabetes_readmission/plots/roc_curve_xgboost.png" id="248" name="Google Shape;24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7692" y="1417320"/>
            <a:ext cx="4577245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/>
          <p:nvPr/>
        </p:nvSpPr>
        <p:spPr>
          <a:xfrm>
            <a:off x="502920" y="5166360"/>
            <a:ext cx="111858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25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52B"/>
                </a:solidFill>
                <a:latin typeface="Calibri"/>
                <a:ea typeface="Calibri"/>
                <a:cs typeface="Calibri"/>
                <a:sym typeface="Calibri"/>
              </a:rPr>
              <a:t>At the default 0.5 threshold, XGBoost correctly identifies 469 of 792 true readmissions (59.2% recall) and 776 of 1,157 true non-readmissions (67.1% specificity) — overall accuracy of 63.9% and ROC-AUC of 0.687. Meaningfully better than chance, with clear room to improve via richer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5 · EXPLAINABILITY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What Actually Drives Readmission Risk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diabetes_readmission/diabetes_readmission/diabetes_readmission/plots/feature_importance_xgboost.png" id="259" name="Google Shape;2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6309360" cy="338981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/>
          <p:nvPr/>
        </p:nvSpPr>
        <p:spPr>
          <a:xfrm>
            <a:off x="7178040" y="1417320"/>
            <a:ext cx="4510735" cy="3389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Utilization history dominates.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prior_visits and meds during a prior inpatient stay rank above any single diabetes lab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0B314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Comorbidity load is the #2 driver.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Multi-diagnosis patients are often readmitted for issues unrelated to glucose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E2572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E2572B"/>
                </a:solidFill>
                <a:latin typeface="Calibri"/>
                <a:ea typeface="Calibri"/>
                <a:cs typeface="Calibri"/>
                <a:sym typeface="Calibri"/>
              </a:rPr>
              <a:t>Surprising finding: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severity itself ranks far below care-utilization history — glycemic-control programs alone may miss the bigger lever.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  <a:buClr>
                <a:srgbClr val="0B31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Practical read:</a:t>
            </a: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 the model flags “complex, high-utilization patients,” not just “poorly-controlled diabetics.”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02920" y="4916859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Top-20 feature importances — XGBoost (red = strongest positive drivers of readmission risk)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6 · BUSINESS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3142"/>
                </a:solidFill>
                <a:latin typeface="Cambria"/>
                <a:ea typeface="Cambria"/>
                <a:cs typeface="Cambria"/>
                <a:sym typeface="Cambria"/>
              </a:rPr>
              <a:t>Top 5 Business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0975543" y="365760"/>
            <a:ext cx="713232" cy="713232"/>
          </a:xfrm>
          <a:prstGeom prst="ellipse">
            <a:avLst/>
          </a:prstGeom>
          <a:solidFill>
            <a:srgbClr val="E25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2454" y="522671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/>
          <p:nvPr/>
        </p:nvSpPr>
        <p:spPr>
          <a:xfrm>
            <a:off x="502920" y="1490472"/>
            <a:ext cx="530352" cy="530352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597" y="1607149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1280160" y="1399032"/>
            <a:ext cx="10408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Utilization history beats diagnosis severity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280160" y="1746504"/>
            <a:ext cx="104086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Prior visits and inpatient history predict readmission better than how “sick” the diabetes itself looks.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4"/>
          <p:cNvCxnSpPr/>
          <p:nvPr/>
        </p:nvCxnSpPr>
        <p:spPr>
          <a:xfrm>
            <a:off x="502920" y="22402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4"/>
          <p:cNvSpPr/>
          <p:nvPr/>
        </p:nvSpPr>
        <p:spPr>
          <a:xfrm>
            <a:off x="502920" y="2404872"/>
            <a:ext cx="530352" cy="530352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597" y="2521549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/>
          <p:nvPr/>
        </p:nvSpPr>
        <p:spPr>
          <a:xfrm>
            <a:off x="1280160" y="2313432"/>
            <a:ext cx="10408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Comorbidity load is a major risk multiplier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1280160" y="2660904"/>
            <a:ext cx="104086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Multi-diagnosis patients drive a disproportionate share of all readmissions.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4"/>
          <p:cNvCxnSpPr/>
          <p:nvPr/>
        </p:nvCxnSpPr>
        <p:spPr>
          <a:xfrm>
            <a:off x="502920" y="31546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4"/>
          <p:cNvSpPr/>
          <p:nvPr/>
        </p:nvSpPr>
        <p:spPr>
          <a:xfrm>
            <a:off x="502920" y="3319272"/>
            <a:ext cx="530352" cy="530352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597" y="3435949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/>
          <p:nvPr/>
        </p:nvSpPr>
        <p:spPr>
          <a:xfrm>
            <a:off x="1280160" y="3227832"/>
            <a:ext cx="10408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ER-route admissions carry elevated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280160" y="3575304"/>
            <a:ext cx="104086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Patients arriving without a planned admission path need closer discharge follow-up.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4"/>
          <p:cNvCxnSpPr/>
          <p:nvPr/>
        </p:nvCxnSpPr>
        <p:spPr>
          <a:xfrm>
            <a:off x="502920" y="40690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4"/>
          <p:cNvSpPr/>
          <p:nvPr/>
        </p:nvSpPr>
        <p:spPr>
          <a:xfrm>
            <a:off x="502920" y="4233672"/>
            <a:ext cx="530352" cy="530352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597" y="4350349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1280160" y="4142232"/>
            <a:ext cx="10408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Readmissions are common, not rare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280160" y="4489704"/>
            <a:ext cx="104086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39.6% of this population returned — even modest model-driven targeting touches a meaningful share of discharges.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4"/>
          <p:cNvCxnSpPr/>
          <p:nvPr/>
        </p:nvCxnSpPr>
        <p:spPr>
          <a:xfrm>
            <a:off x="502920" y="49834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4"/>
          <p:cNvSpPr/>
          <p:nvPr/>
        </p:nvSpPr>
        <p:spPr>
          <a:xfrm>
            <a:off x="502920" y="5148072"/>
            <a:ext cx="530352" cy="530352"/>
          </a:xfrm>
          <a:prstGeom prst="ellipse">
            <a:avLst/>
          </a:prstGeom>
          <a:solidFill>
            <a:srgbClr val="12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597" y="5264749"/>
            <a:ext cx="296997" cy="29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1280160" y="5056632"/>
            <a:ext cx="104086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1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3142"/>
                </a:solidFill>
                <a:latin typeface="Calibri"/>
                <a:ea typeface="Calibri"/>
                <a:cs typeface="Calibri"/>
                <a:sym typeface="Calibri"/>
              </a:rPr>
              <a:t>Data gaps can hide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280160" y="5404104"/>
            <a:ext cx="104086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Missing or unknown medical-specialty records are themselves linked to higher readmission risk — a sign of documentation gaps at admission.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4"/>
                </a:solidFill>
                <a:latin typeface="Calibri"/>
                <a:ea typeface="Calibri"/>
                <a:cs typeface="Calibri"/>
                <a:sym typeface="Calibri"/>
              </a:rPr>
              <a:t>Diabetes Readmission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14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6 · BUSINESS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 5 Recommendations for Hospital Leadership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502920" y="13716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554480" y="1399032"/>
            <a:ext cx="10134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as a triage flag, not a gatekeeper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554480" y="1746504"/>
            <a:ext cx="10134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Route high-risk-flagged patients to a nurse-led case review before discharge sign-off.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5"/>
          <p:cNvCxnSpPr/>
          <p:nvPr/>
        </p:nvCxnSpPr>
        <p:spPr>
          <a:xfrm>
            <a:off x="502920" y="22402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12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5"/>
          <p:cNvSpPr/>
          <p:nvPr/>
        </p:nvSpPr>
        <p:spPr>
          <a:xfrm>
            <a:off x="502920" y="22860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554480" y="2313432"/>
            <a:ext cx="10134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structured transition-of-care track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554480" y="2660904"/>
            <a:ext cx="10134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For high-utilization patients: a 48–72 hr follow-up call plus a 7-day PCP visit.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5"/>
          <p:cNvCxnSpPr/>
          <p:nvPr/>
        </p:nvCxnSpPr>
        <p:spPr>
          <a:xfrm>
            <a:off x="502920" y="31546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12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5"/>
          <p:cNvSpPr/>
          <p:nvPr/>
        </p:nvSpPr>
        <p:spPr>
          <a:xfrm>
            <a:off x="502920" y="32004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1554480" y="3227832"/>
            <a:ext cx="10134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Give ER-admitted patients dedicated planning attention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1554480" y="3575304"/>
            <a:ext cx="10134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They show elevated risk and often lack a pre-existing care plan.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5"/>
          <p:cNvCxnSpPr/>
          <p:nvPr/>
        </p:nvCxnSpPr>
        <p:spPr>
          <a:xfrm>
            <a:off x="502920" y="40690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12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5"/>
          <p:cNvSpPr/>
          <p:nvPr/>
        </p:nvSpPr>
        <p:spPr>
          <a:xfrm>
            <a:off x="502920" y="41148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1554480" y="4142232"/>
            <a:ext cx="10134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 the medical-specialty documentation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554480" y="4489704"/>
            <a:ext cx="10134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It's both a model-accuracy issue and a care-coordination issue.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5"/>
          <p:cNvCxnSpPr/>
          <p:nvPr/>
        </p:nvCxnSpPr>
        <p:spPr>
          <a:xfrm>
            <a:off x="502920" y="498348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12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5"/>
          <p:cNvSpPr/>
          <p:nvPr/>
        </p:nvSpPr>
        <p:spPr>
          <a:xfrm>
            <a:off x="502920" y="502920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1554480" y="5056632"/>
            <a:ext cx="10134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Favor recall over raw accuracy in production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1554480" y="5404104"/>
            <a:ext cx="10134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A missed high-risk patient costs more than one extra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14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/>
          <p:nvPr/>
        </p:nvSpPr>
        <p:spPr>
          <a:xfrm>
            <a:off x="502920" y="164592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PART 6 · BUSINESS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502920" y="411480"/>
            <a:ext cx="111858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Business Impact &amp; Next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02920" y="1417320"/>
            <a:ext cx="3545738" cy="1874520"/>
          </a:xfrm>
          <a:prstGeom prst="roundRect">
            <a:avLst>
              <a:gd fmla="val 3902" name="adj"/>
            </a:avLst>
          </a:prstGeom>
          <a:solidFill>
            <a:srgbClr val="123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685800" y="1554480"/>
            <a:ext cx="317997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~1.3x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85800" y="2103120"/>
            <a:ext cx="31799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concentration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85800" y="2450592"/>
            <a:ext cx="317997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Flagged patients readmit at 49.8%, vs. a 39.6% population base rate.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4322978" y="1417320"/>
            <a:ext cx="3545738" cy="1874520"/>
          </a:xfrm>
          <a:prstGeom prst="roundRect">
            <a:avLst>
              <a:gd fmla="val 3902" name="adj"/>
            </a:avLst>
          </a:prstGeom>
          <a:solidFill>
            <a:srgbClr val="123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4505858" y="1554480"/>
            <a:ext cx="317997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82%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05858" y="2103120"/>
            <a:ext cx="31799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catch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505858" y="2450592"/>
            <a:ext cx="317997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Share of true readmissions identified at the recall-optimized threshold.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8143037" y="1417320"/>
            <a:ext cx="3545738" cy="1874520"/>
          </a:xfrm>
          <a:prstGeom prst="roundRect">
            <a:avLst>
              <a:gd fmla="val 3902" name="adj"/>
            </a:avLst>
          </a:prstGeom>
          <a:solidFill>
            <a:srgbClr val="123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8325917" y="1554480"/>
            <a:ext cx="317997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27C82"/>
                </a:solidFill>
                <a:latin typeface="Cambria"/>
                <a:ea typeface="Cambria"/>
                <a:cs typeface="Cambria"/>
                <a:sym typeface="Cambria"/>
              </a:rPr>
              <a:t>~40%, not 100%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325917" y="2103120"/>
            <a:ext cx="31799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discharges need priority outreach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8325917" y="2450592"/>
            <a:ext cx="317997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Targeting flagged patients beats blanket follow-up for every discharge.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502920" y="3611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C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7C82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02920" y="3931920"/>
            <a:ext cx="1118585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Richer clinical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9FB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 — lab-result trends and social-determinant signals.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Probability calibration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9FB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 — so risk scores translate cleanly into care-team 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Discharge-workflow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9FB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 — surfacing the flag where nurses already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Bonus: a RAG-based clinician assistant</a:t>
            </a:r>
            <a:r>
              <a:rPr b="0" i="0" lang="en-US" sz="13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 answering “why was this patient flagged?” in plain language.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6"/>
          <p:cNvCxnSpPr/>
          <p:nvPr/>
        </p:nvCxnSpPr>
        <p:spPr>
          <a:xfrm>
            <a:off x="502920" y="5989320"/>
            <a:ext cx="11185855" cy="0"/>
          </a:xfrm>
          <a:prstGeom prst="straightConnector1">
            <a:avLst/>
          </a:prstGeom>
          <a:noFill/>
          <a:ln cap="flat" cmpd="sng" w="12700">
            <a:solidFill>
              <a:srgbClr val="123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6"/>
          <p:cNvSpPr/>
          <p:nvPr/>
        </p:nvSpPr>
        <p:spPr>
          <a:xfrm>
            <a:off x="502920" y="6126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116775" y="61996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7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7BC"/>
                </a:solidFill>
                <a:latin typeface="Calibri"/>
                <a:ea typeface="Calibri"/>
                <a:cs typeface="Calibri"/>
                <a:sym typeface="Calibri"/>
              </a:rPr>
              <a:t>Mithil Save  ·  Adbureau Analytics Internship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2026-06-22T13:39:10Z</dcterms:created>
  <dc:creator>Mithil Save</dc:creator>
</cp:coreProperties>
</file>